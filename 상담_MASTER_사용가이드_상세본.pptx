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e221a76c7744b7" /><Relationship Type="http://schemas.openxmlformats.org/officeDocument/2006/relationships/extended-properties" Target="/docProps/app.xml" Id="Rc523d5caf22e460e" /><Relationship Type="http://schemas.openxmlformats.org/officeDocument/2006/relationships/officeDocument" Target="/ppt/presentation.xml" Id="R2bc2ee98a5ba4d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69a53be65b4025"/>
  </p:sldMasterIdLst>
  <p:notesMasterIdLst>
    <p:notesMasterId xmlns:r="http://schemas.openxmlformats.org/officeDocument/2006/relationships" r:id="R21279580442142ab"/>
  </p:notesMasterIdLst>
  <p:sldIdLst>
    <p:sldId xmlns:r="http://schemas.openxmlformats.org/officeDocument/2006/relationships" id="256" r:id="Rba6a5e89fd104236"/>
    <p:sldId xmlns:r="http://schemas.openxmlformats.org/officeDocument/2006/relationships" id="257" r:id="Rd53c73ecfff44e8c"/>
    <p:sldId xmlns:r="http://schemas.openxmlformats.org/officeDocument/2006/relationships" id="258" r:id="Rbc4ea768d53c45a1"/>
    <p:sldId xmlns:r="http://schemas.openxmlformats.org/officeDocument/2006/relationships" id="259" r:id="R87d43d98f7c244a8"/>
    <p:sldId xmlns:r="http://schemas.openxmlformats.org/officeDocument/2006/relationships" id="260" r:id="R4ae0d9699df74a6b"/>
    <p:sldId xmlns:r="http://schemas.openxmlformats.org/officeDocument/2006/relationships" id="261" r:id="R2d41da963cb14168"/>
    <p:sldId xmlns:r="http://schemas.openxmlformats.org/officeDocument/2006/relationships" id="262" r:id="Re6cdce84c2a64d0a"/>
    <p:sldId xmlns:r="http://schemas.openxmlformats.org/officeDocument/2006/relationships" id="263" r:id="R5f3352520da040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2692add71d4fc4" /><Relationship Type="http://schemas.openxmlformats.org/officeDocument/2006/relationships/slideMaster" Target="/ppt/slideMasters/slideMaster1.xml" Id="Rf069a53be65b4025" /><Relationship Type="http://schemas.openxmlformats.org/officeDocument/2006/relationships/notesMaster" Target="/ppt/notesMasters/notesMaster1.xml" Id="R21279580442142ab" /><Relationship Type="http://schemas.openxmlformats.org/officeDocument/2006/relationships/presProps" Target="/ppt/presProps.xml" Id="R1222874b5b0c4527" /><Relationship Type="http://schemas.openxmlformats.org/officeDocument/2006/relationships/tableStyles" Target="/ppt/tableStyles.xml" Id="Ra2c491f04a2e4cd4" /><Relationship Type="http://schemas.openxmlformats.org/officeDocument/2006/relationships/slide" Target="/ppt/slides/slide1.xml" Id="Rba6a5e89fd104236" /><Relationship Type="http://schemas.openxmlformats.org/officeDocument/2006/relationships/slide" Target="/ppt/slides/slide2.xml" Id="Rd53c73ecfff44e8c" /><Relationship Type="http://schemas.openxmlformats.org/officeDocument/2006/relationships/slide" Target="/ppt/slides/slide3.xml" Id="Rbc4ea768d53c45a1" /><Relationship Type="http://schemas.openxmlformats.org/officeDocument/2006/relationships/slide" Target="/ppt/slides/slide4.xml" Id="R87d43d98f7c244a8" /><Relationship Type="http://schemas.openxmlformats.org/officeDocument/2006/relationships/slide" Target="/ppt/slides/slide5.xml" Id="R4ae0d9699df74a6b" /><Relationship Type="http://schemas.openxmlformats.org/officeDocument/2006/relationships/slide" Target="/ppt/slides/slide6.xml" Id="R2d41da963cb14168" /><Relationship Type="http://schemas.openxmlformats.org/officeDocument/2006/relationships/slide" Target="/ppt/slides/slide7.xml" Id="Re6cdce84c2a64d0a" /><Relationship Type="http://schemas.openxmlformats.org/officeDocument/2006/relationships/slide" Target="/ppt/slides/slide8.xml" Id="R5f3352520da040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a2582100e949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292627e4dc4b52" /><Relationship Type="http://schemas.openxmlformats.org/officeDocument/2006/relationships/notesMaster" Target="/ppt/notesMasters/notesMaster1.xml" Id="R5893b1bcb98e4b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87d227480440da" /><Relationship Type="http://schemas.openxmlformats.org/officeDocument/2006/relationships/notesMaster" Target="/ppt/notesMasters/notesMaster1.xml" Id="R6a4ea0d0d18740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05339297964d39" /><Relationship Type="http://schemas.openxmlformats.org/officeDocument/2006/relationships/notesMaster" Target="/ppt/notesMasters/notesMaster1.xml" Id="Rce3ed1e4289944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c090c03df64309" /><Relationship Type="http://schemas.openxmlformats.org/officeDocument/2006/relationships/notesMaster" Target="/ppt/notesMasters/notesMaster1.xml" Id="Rb94c385820c548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f094fcfe1e4530" /><Relationship Type="http://schemas.openxmlformats.org/officeDocument/2006/relationships/notesMaster" Target="/ppt/notesMasters/notesMaster1.xml" Id="R5d288e8ee4d34f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afb152c91f4915" /><Relationship Type="http://schemas.openxmlformats.org/officeDocument/2006/relationships/notesMaster" Target="/ppt/notesMasters/notesMaster1.xml" Id="R31c7c7213a654d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3c04ee62e74ddd" /><Relationship Type="http://schemas.openxmlformats.org/officeDocument/2006/relationships/notesMaster" Target="/ppt/notesMasters/notesMaster1.xml" Id="R6a860624514744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eebc855e5d4901" /><Relationship Type="http://schemas.openxmlformats.org/officeDocument/2006/relationships/notesMaster" Target="/ppt/notesMasters/notesMaster1.xml" Id="R832b3e29a3124e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상담 MASTER의 주요 기능과 실제 사용 순서를 소개하는 가이드입니다.</a:t>
            </a:r>
          </a:p>
          <a:p xmlns:a="http://schemas.openxmlformats.org/drawingml/2006/main">
            <a:r>
              <a:t>첫 사용자는 오른쪽 상단 도움말을 함께 열어보도록 안내하세요.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상담 MASTER 프로젝트 운영 파일 및 AGENTS.md (2026-08-28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상담 MASTER는 퀴즈 앱만이 아니라 상담 준비와 교육자료, 성장 기록을 함께 제공하는 도구입니다.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상담 MASTER 프로젝트 운영 파일 및 AGENTS.md (2026-08-28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공용 기기에서는 로그인 정보 저장을 선택하지 않는 것이 좋습니다.</a:t>
            </a:r>
          </a:p>
          <a:p xmlns:a="http://schemas.openxmlformats.org/drawingml/2006/main">
            <a:r>
              <a:t>첫 접속 안내는 7일 동안 숨길 수 있으며, 도움말 버튼은 계속 사용할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상담 MASTER 프로젝트 운영 파일 및 AGENTS.md (2026-08-28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퀴즈는 입력형이며, 정답 제출 후 다음 문제 버튼이 같은 하단 영역에 나타납니다.</a:t>
            </a:r>
          </a:p>
          <a:p xmlns:a="http://schemas.openxmlformats.org/drawingml/2006/main">
            <a:r>
              <a:t>포인트는 동일 문항의 도전 회차에 따라 달라집니다.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상담 MASTER 프로젝트 운영 파일 및 AGENTS.md (2026-08-28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상담 핵심카드는 질문-공감-추천 콘텐츠-추천 멘트의 상담 흐름으로 구성됩니다.</a:t>
            </a:r>
          </a:p>
          <a:p xmlns:a="http://schemas.openxmlformats.org/drawingml/2006/main">
            <a:r>
              <a:t>추천 콘텐츠와 멘트는 터치해 복사할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상담 MASTER 프로젝트 운영 파일 및 AGENTS.md (2026-08-28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교육자료는 상담력 인사이트와 우수사례 두 탭으로 구성됩니다.</a:t>
            </a:r>
          </a:p>
          <a:p xmlns:a="http://schemas.openxmlformats.org/drawingml/2006/main">
            <a:r>
              <a:t>롤플레잉 룰렛은 START 후 STOP을 눌러 주제를 선택하며, 상단의 도움영상으로 진행법을 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상담 MASTER 프로젝트 운영 파일 및 AGENTS.md (2026-08-28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직급은 누적 포인트에 따라 5단계로 자동 반영됩니다.</a:t>
            </a:r>
          </a:p>
          <a:p xmlns:a="http://schemas.openxmlformats.org/drawingml/2006/main">
            <a:r>
              <a:t>랭킹은 월간 활동을, 성장여정은 누적 포인트를, 오답노트는 개인 보완 영역을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상담 MASTER 프로젝트 운영 파일 및 AGENTS.md (2026-08-28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로그인 안내는 사용자의 선택을 방해하지 않는 코치마크 방식입니다.</a:t>
            </a:r>
          </a:p>
          <a:p xmlns:a="http://schemas.openxmlformats.org/drawingml/2006/main">
            <a:r>
              <a:t>기능 설명에서 바로 시작을 누르면 해당 화면으로 이동합니다.</a:t>
            </a:r>
          </a:p>
          <a:p xmlns:a="http://schemas.openxmlformats.org/drawingml/2006/main">
            <a:r>
              <a:t>가이드를 교육 때 보여준 뒤, 실제 휴대폰에서 도움말을 한 번 열어보게 하면 좋습니다.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상담 MASTER 프로젝트 운영 파일 및 AGENTS.md (2026-08-28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18c69a6c140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598dc3518d4241" /><Relationship Type="http://schemas.openxmlformats.org/officeDocument/2006/relationships/slideLayout" Target="/ppt/slideLayouts/slideLayout1.xml" Id="Re27250cfe9f246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7250cfe9f246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c1b2394ce44b6" /><Relationship Type="http://schemas.openxmlformats.org/officeDocument/2006/relationships/image" Target="/ppt/media/image.png" Id="R9bcd4f4a31fe4788" /><Relationship Type="http://schemas.openxmlformats.org/officeDocument/2006/relationships/notesSlide" Target="/ppt/notesSlides/notesSlide1.xml" Id="R47a338d36b3441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cdfd597f5416d" /><Relationship Type="http://schemas.openxmlformats.org/officeDocument/2006/relationships/notesSlide" Target="/ppt/notesSlides/notesSlide2.xml" Id="Re2b74986be1f46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c930fdb0f42c6" /><Relationship Type="http://schemas.openxmlformats.org/officeDocument/2006/relationships/notesSlide" Target="/ppt/notesSlides/notesSlide3.xml" Id="R92645813bb4348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01a6120cd4c52" /><Relationship Type="http://schemas.openxmlformats.org/officeDocument/2006/relationships/notesSlide" Target="/ppt/notesSlides/notesSlide4.xml" Id="R0ca64df0b93e49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8b109fc9e4340" /><Relationship Type="http://schemas.openxmlformats.org/officeDocument/2006/relationships/notesSlide" Target="/ppt/notesSlides/notesSlide5.xml" Id="R0555c5725c5142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7c816b3684311" /><Relationship Type="http://schemas.openxmlformats.org/officeDocument/2006/relationships/notesSlide" Target="/ppt/notesSlides/notesSlide6.xml" Id="R224c7a22fedd43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1773501824966" /><Relationship Type="http://schemas.openxmlformats.org/officeDocument/2006/relationships/image" Target="/ppt/media/image2.png" Id="R74804c25a40247f0" /><Relationship Type="http://schemas.openxmlformats.org/officeDocument/2006/relationships/image" Target="/ppt/media/image3.png" Id="Rd621503032224554" /><Relationship Type="http://schemas.openxmlformats.org/officeDocument/2006/relationships/image" Target="/ppt/media/image4.png" Id="R1c2da8dc2b8d44a3" /><Relationship Type="http://schemas.openxmlformats.org/officeDocument/2006/relationships/image" Target="/ppt/media/image5.png" Id="R7823f1bac2064ba2" /><Relationship Type="http://schemas.openxmlformats.org/officeDocument/2006/relationships/image" Target="/ppt/media/image6.png" Id="Ra69d6bbc61184bb9" /><Relationship Type="http://schemas.openxmlformats.org/officeDocument/2006/relationships/notesSlide" Target="/ppt/notesSlides/notesSlide7.xml" Id="R9b0968cc26cc4e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e419d433f4663" /><Relationship Type="http://schemas.openxmlformats.org/officeDocument/2006/relationships/notesSlide" Target="/ppt/notesSlides/notesSlide8.xml" Id="R6583cea387734d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D2C78-50F9-4AAC-833D-BB8BCD6D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76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EEE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8DA05-D0DA-41AF-A5E0-56514D90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4CF5"/>
                </a:solidFill>
              </a:defRPr>
            </a:pPr>
            <a:r>
              <a:rPr sz="1050" b="1">
                <a:solidFill>
                  <a:srgbClr val="6F4CF5"/>
                </a:solidFill>
              </a:rPr>
              <a:t>2026 USER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11616-0CC0-4187-B30D-EBD7A7F5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429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151F"/>
                </a:solidFill>
              </a:defRPr>
            </a:pPr>
            <a:r>
              <a:rPr sz="3900" b="1">
                <a:solidFill>
                  <a:srgbClr val="17151F"/>
                </a:solidFill>
              </a:rPr>
              <a:t>상담 MASTER</a:t>
            </a:r>
          </a:p>
          <a:p xmlns:a="http://schemas.openxmlformats.org/drawingml/2006/main">
            <a:pPr algn="l">
              <a:defRPr sz="3900" b="1">
                <a:solidFill>
                  <a:srgbClr val="17151F"/>
                </a:solidFill>
              </a:defRPr>
            </a:pPr>
            <a:r>
              <a:rPr sz="3900" b="1">
                <a:solidFill>
                  <a:srgbClr val="17151F"/>
                </a:solidFill>
              </a:rPr>
              <a:t>사용 가이드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5B5A7-FEFD-45B5-B749-071A1642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A79"/>
                </a:solidFill>
              </a:defRPr>
            </a:pPr>
            <a:r>
              <a:rPr sz="1725" b="0">
                <a:solidFill>
                  <a:srgbClr val="6F6A79"/>
                </a:solidFill>
              </a:rPr>
              <a:t>상담 준비부터 학습·성장까지,</a:t>
            </a:r>
          </a:p>
          <a:p xmlns:a="http://schemas.openxmlformats.org/drawingml/2006/main">
            <a:pPr algn="l">
              <a:defRPr sz="1725" b="0">
                <a:solidFill>
                  <a:srgbClr val="6F6A79"/>
                </a:solidFill>
              </a:defRPr>
            </a:pPr>
            <a:r>
              <a:rPr sz="1725" b="0">
                <a:solidFill>
                  <a:srgbClr val="6F6A79"/>
                </a:solidFill>
              </a:rPr>
              <a:t>필요한 기능을 한곳에서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12EDB-0194-408E-8FF5-5084B492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"/>
            <a:ext cx="4933950" cy="5619750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EEE9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d4f4a31fe4788"/>
          <a:stretch xmlns:a="http://schemas.openxmlformats.org/drawingml/2006/main"/>
        </p:blipFill>
        <p:spPr>
          <a:xfrm xmlns:a="http://schemas.openxmlformats.org/drawingml/2006/main">
            <a:off x="7162800" y="1066800"/>
            <a:ext cx="3714750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62A40-EE7F-4068-98E4-985D1706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00625"/>
            <a:ext cx="3333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EBEBD-601A-41DC-92B5-26583F47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00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4CF5"/>
                </a:solidFill>
              </a:defRPr>
            </a:pPr>
            <a:r>
              <a:rPr sz="1050" b="1">
                <a:solidFill>
                  <a:srgbClr val="6F4CF5"/>
                </a:solidFill>
              </a:rPr>
              <a:t>처음이라면 오른쪽 상단 도움말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1DAB9-A937-442B-9C29-C69FBA67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4CF5"/>
                </a:solidFill>
              </a:defRPr>
            </a:pPr>
            <a:r>
              <a:rPr sz="1125" b="1">
                <a:solidFill>
                  <a:srgbClr val="6F4CF5"/>
                </a:solidFill>
              </a:rPr>
              <a:t>엘리하이 상담 매니저용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FA0D7-B785-4C68-B3F1-80F3C202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94A3"/>
                </a:solidFill>
              </a:defRPr>
            </a:pPr>
            <a:r>
              <a:rPr sz="825" b="0">
                <a:solidFill>
                  <a:srgbClr val="9A94A3"/>
                </a:solidFill>
              </a:rPr>
              <a:t>상담 MASTER 사용 가이드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E020C-EF65-47BA-8805-7A9F6CD4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94A3"/>
                </a:solidFill>
              </a:defRPr>
            </a:pPr>
            <a:r>
              <a:rPr sz="825" b="1">
                <a:solidFill>
                  <a:srgbClr val="9A94A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2807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42C804-A9DE-41FC-B098-C7AB3C0B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4CF5"/>
                </a:solidFill>
              </a:defRPr>
            </a:pPr>
            <a:r>
              <a:rPr sz="1050" b="1">
                <a:solidFill>
                  <a:srgbClr val="6F4CF5"/>
                </a:solidFill>
              </a:rPr>
              <a:t>01 · 한눈에 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BF905-4ADD-4BD4-B1FC-BD61209E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51F"/>
                </a:solidFill>
              </a:defRPr>
            </a:pPr>
            <a:r>
              <a:rPr sz="2700" b="1">
                <a:solidFill>
                  <a:srgbClr val="17151F"/>
                </a:solidFill>
              </a:rPr>
              <a:t>상담 MASTER는 무엇을 도와주나요?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3A405-08AC-417A-886C-00115CCE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79"/>
                </a:solidFill>
              </a:defRPr>
            </a:pPr>
            <a:r>
              <a:rPr sz="1350" b="0">
                <a:solidFill>
                  <a:srgbClr val="6F6A79"/>
                </a:solidFill>
              </a:rPr>
              <a:t>업무 중 필요한 순간에 아래 네 가지 목적으로 사용하면 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B8D2D-B93D-4C47-91C7-2FBD3AA7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523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27497-F907-46CD-A910-7FA030AC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EEE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3D113-B1F3-40D8-A5B2-D020CDCC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4CF5"/>
                </a:solidFill>
              </a:defRPr>
            </a:pPr>
            <a:r>
              <a:rPr sz="1350" b="1">
                <a:solidFill>
                  <a:srgbClr val="6F4CF5"/>
                </a:solidFill>
              </a:rPr>
              <a:t>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F8A51-4071-442D-B38A-63B294B0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050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F"/>
                </a:solidFill>
              </a:defRPr>
            </a:pPr>
            <a:r>
              <a:rPr sz="1575" b="1">
                <a:solidFill>
                  <a:srgbClr val="17151F"/>
                </a:solidFill>
              </a:rPr>
              <a:t>학습하기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3C17E-880A-4A80-94EA-0F9F109B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86050"/>
            <a:ext cx="4152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79"/>
                </a:solidFill>
              </a:defRPr>
            </a:pPr>
            <a:r>
              <a:rPr sz="1200" b="0">
                <a:solidFill>
                  <a:srgbClr val="6F6A79"/>
                </a:solidFill>
              </a:rPr>
              <a:t>상담 퀴즈로 제품 지식을 점검하고 포인트를 쌓습니다.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C1F09-2138-4BBB-A818-FCB1AD11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523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685CE-ECBF-4751-9D41-D9DDDA76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FFF0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1F5EE-F336-4D7B-BE6A-6365BB59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4CF5"/>
                </a:solidFill>
              </a:defRPr>
            </a:pPr>
            <a:r>
              <a:rPr sz="1350" b="1">
                <a:solidFill>
                  <a:srgbClr val="6F4CF5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F2387-A992-4AFC-A10D-320A7397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050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F"/>
                </a:solidFill>
              </a:defRPr>
            </a:pPr>
            <a:r>
              <a:rPr sz="1575" b="1">
                <a:solidFill>
                  <a:srgbClr val="17151F"/>
                </a:solidFill>
              </a:rPr>
              <a:t>상담 준비하기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F8619-DF89-4C00-AA7D-BD753232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86050"/>
            <a:ext cx="4152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79"/>
                </a:solidFill>
              </a:defRPr>
            </a:pPr>
            <a:r>
              <a:rPr sz="1200" b="0">
                <a:solidFill>
                  <a:srgbClr val="6F6A79"/>
                </a:solidFill>
              </a:rPr>
              <a:t>학년·과목별 핵심카드에서 질문과 추천 멘트를 확인합니다.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254AF-1AC6-4640-B7B0-B3F531C0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523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B15DA-AB35-42AA-B1A5-446691D9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9525">
            <a:solidFill>
              <a:srgbClr val="DDF7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85A85-9382-4493-8DAE-3DE187AB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4CF5"/>
                </a:solidFill>
              </a:defRPr>
            </a:pPr>
            <a:r>
              <a:rPr sz="1350" b="1">
                <a:solidFill>
                  <a:srgbClr val="6F4CF5"/>
                </a:solidFill>
              </a:rPr>
              <a:t>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78986-C032-4EBE-910F-DB6354FC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005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F"/>
                </a:solidFill>
              </a:defRPr>
            </a:pPr>
            <a:r>
              <a:rPr sz="1575" b="1">
                <a:solidFill>
                  <a:srgbClr val="17151F"/>
                </a:solidFill>
              </a:rPr>
              <a:t>사례 익히기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9B186-4996-488B-9591-319CF300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81500"/>
            <a:ext cx="4152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79"/>
                </a:solidFill>
              </a:defRPr>
            </a:pPr>
            <a:r>
              <a:rPr sz="1200" b="0">
                <a:solidFill>
                  <a:srgbClr val="6F6A79"/>
                </a:solidFill>
              </a:rPr>
              <a:t>상담력 인사이트와 우수사례 영상으로 실제 상담 감각을 높입니다.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9618C-CA6F-4FB6-99F4-03319CB7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523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90BC35-30EC-4759-B263-3DCCB17E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5F3F8"/>
          </a:solidFill>
          <a:ln xmlns:a="http://schemas.openxmlformats.org/drawingml/2006/main" w="9525">
            <a:solidFill>
              <a:srgbClr val="F5F3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1B08BF-4EE6-4901-A673-0D8334C2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4CF5"/>
                </a:solidFill>
              </a:defRPr>
            </a:pPr>
            <a:r>
              <a:rPr sz="1350" b="1">
                <a:solidFill>
                  <a:srgbClr val="6F4CF5"/>
                </a:solidFill>
              </a:rPr>
              <a:t>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E9D21-C4DE-4FD2-9B05-2924677C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005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F"/>
                </a:solidFill>
              </a:defRPr>
            </a:pPr>
            <a:r>
              <a:rPr sz="1575" b="1">
                <a:solidFill>
                  <a:srgbClr val="17151F"/>
                </a:solidFill>
              </a:rPr>
              <a:t>성장 확인하기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E3A31-179C-43CD-BAD1-460DE737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1500"/>
            <a:ext cx="4152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79"/>
                </a:solidFill>
              </a:defRPr>
            </a:pPr>
            <a:r>
              <a:rPr sz="1200" b="0">
                <a:solidFill>
                  <a:srgbClr val="6F6A79"/>
                </a:solidFill>
              </a:rPr>
              <a:t>랭킹·성장여정·오답노트에서 내 기록과 보완점을 봅니다.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59E7A-5511-467E-BACF-27D07699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F4CF5"/>
                </a:solidFill>
              </a:defRPr>
            </a:pPr>
            <a:r>
              <a:rPr sz="1275" b="1">
                <a:solidFill>
                  <a:srgbClr val="6F4CF5"/>
                </a:solidFill>
              </a:rPr>
              <a:t>TIP  필요한 기능만 바로 열어도 되고, 처음에는 도움말의 ‘바로 시작’을 이용하세요.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2BFE03-794F-4D7A-9561-50B96EBE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94A3"/>
                </a:solidFill>
              </a:defRPr>
            </a:pPr>
            <a:r>
              <a:rPr sz="825" b="0">
                <a:solidFill>
                  <a:srgbClr val="9A94A3"/>
                </a:solidFill>
              </a:rPr>
              <a:t>상담 MASTER 사용 가이드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F5AD91-62EF-4367-909C-F6A65E44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94A3"/>
                </a:solidFill>
              </a:defRPr>
            </a:pPr>
            <a:r>
              <a:rPr sz="825" b="1">
                <a:solidFill>
                  <a:srgbClr val="9A94A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4056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78B84A-4ACA-4708-A48B-CB666371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4CF5"/>
                </a:solidFill>
              </a:defRPr>
            </a:pPr>
            <a:r>
              <a:rPr sz="1050" b="1">
                <a:solidFill>
                  <a:srgbClr val="6F4CF5"/>
                </a:solidFill>
              </a:rPr>
              <a:t>02 · 시작하기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76B06-7457-4AF6-9B44-86014D45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51F"/>
                </a:solidFill>
              </a:defRPr>
            </a:pPr>
            <a:r>
              <a:rPr sz="2700" b="1">
                <a:solidFill>
                  <a:srgbClr val="17151F"/>
                </a:solidFill>
              </a:rPr>
              <a:t>접속부터 홈 화면까지 3단계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FB132-BEC9-420F-9747-A3CB9D4E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79"/>
                </a:solidFill>
              </a:defRPr>
            </a:pPr>
            <a:r>
              <a:rPr sz="1350" b="0">
                <a:solidFill>
                  <a:srgbClr val="6F6A79"/>
                </a:solidFill>
              </a:rPr>
              <a:t>로그인은 간단하며, 개인 기기에서는 정보를 저장해 다음 접속을 편하게 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7ECCA-477A-4B37-9B9F-C8450CCD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3337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088A7-BF2F-44AE-B93A-9B72B056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4CF5"/>
          </a:solidFill>
          <a:ln xmlns:a="http://schemas.openxmlformats.org/drawingml/2006/main" w="9525">
            <a:solidFill>
              <a:srgbClr val="6F4C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9EFCD-6619-4EC2-90CA-FFD4303E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F9079-3CD9-4E35-B712-682FB04F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0325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F"/>
                </a:solidFill>
              </a:defRPr>
            </a:pPr>
            <a:r>
              <a:rPr sz="1650" b="1">
                <a:solidFill>
                  <a:srgbClr val="17151F"/>
                </a:solidFill>
              </a:rPr>
              <a:t>링크 접속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DDBFC-6C38-4595-A922-D0D8CBD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52775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79"/>
                </a:solidFill>
              </a:defRPr>
            </a:pPr>
            <a:r>
              <a:rPr sz="1275" b="0">
                <a:solidFill>
                  <a:srgbClr val="6F6A79"/>
                </a:solidFill>
              </a:rPr>
              <a:t>배포 링크를 열고 인트로 화면에서 시작합니다.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E2894-3421-4D27-9A94-890194AB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33337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041D4-FFC1-4D24-972E-70E96D18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193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B4A"/>
          </a:solidFill>
          <a:ln xmlns:a="http://schemas.openxmlformats.org/drawingml/2006/main" w="9525">
            <a:solidFill>
              <a:srgbClr val="FF9B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D2356-0E0B-4208-80F9-A22D20A2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193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3636C-67EA-4739-9EAE-799CC87E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600325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F"/>
                </a:solidFill>
              </a:defRPr>
            </a:pPr>
            <a:r>
              <a:rPr sz="1650" b="1">
                <a:solidFill>
                  <a:srgbClr val="17151F"/>
                </a:solidFill>
              </a:rPr>
              <a:t>이름·휴대폰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BB158-E31F-4773-A926-4733026C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52775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79"/>
                </a:solidFill>
              </a:defRPr>
            </a:pPr>
            <a:r>
              <a:rPr sz="1275" b="0">
                <a:solidFill>
                  <a:srgbClr val="6F6A79"/>
                </a:solidFill>
              </a:rPr>
              <a:t>본인 확인용 정보를 입력합니다. 개인 기기라면 저장을 선택할 수 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A33A6-5B47-47A8-B13A-3EEF6F28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33337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8CDF3-7537-4B9F-8F93-F5A6B36E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193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9A70"/>
          </a:solidFill>
          <a:ln xmlns:a="http://schemas.openxmlformats.org/drawingml/2006/main" w="9525">
            <a:solidFill>
              <a:srgbClr val="1E9A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CB60A-AA40-43E5-9193-630EB214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193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2FBF5-19D0-4829-85D8-3B659E3A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0325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F"/>
                </a:solidFill>
              </a:defRPr>
            </a:pPr>
            <a:r>
              <a:rPr sz="1650" b="1">
                <a:solidFill>
                  <a:srgbClr val="17151F"/>
                </a:solidFill>
              </a:rPr>
              <a:t>홈에서 기능 선택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5AD34-B084-409F-9635-7591EA10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52775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79"/>
                </a:solidFill>
              </a:defRPr>
            </a:pPr>
            <a:r>
              <a:rPr sz="1275" b="0">
                <a:solidFill>
                  <a:srgbClr val="6F6A79"/>
                </a:solidFill>
              </a:rPr>
              <a:t>오늘 필요한 메뉴를 눌러 바로 시작합니다.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410E8-5A56-4CF0-A570-CAA8286A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E0EA"/>
          </a:solidFill>
          <a:ln xmlns:a="http://schemas.openxmlformats.org/drawingml/2006/main" w="0">
            <a:solidFill>
              <a:srgbClr val="E5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CCD9A-213F-41A2-8028-B0F32D08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52750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E0EA"/>
          </a:solidFill>
          <a:ln xmlns:a="http://schemas.openxmlformats.org/drawingml/2006/main" w="0">
            <a:solidFill>
              <a:srgbClr val="E5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3AD1E-50B1-4212-A391-47EFA7F8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10858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49B66-37F0-4923-ADC4-12AB300A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4CF5"/>
                </a:solidFill>
              </a:defRPr>
            </a:pPr>
            <a:r>
              <a:rPr sz="1200" b="1">
                <a:solidFill>
                  <a:srgbClr val="6F4CF5"/>
                </a:solidFill>
              </a:rPr>
              <a:t>처음 접속하면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1978CD-B302-4FA1-90D5-BCD7262A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F"/>
                </a:solidFill>
              </a:defRPr>
            </a:pPr>
            <a:r>
              <a:rPr sz="1650" b="1">
                <a:solidFill>
                  <a:srgbClr val="17151F"/>
                </a:solidFill>
              </a:rPr>
              <a:t>“처음이신가요? 사용 가이드를 눌러보세요!” 안내가 나타납니다.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F6CCC6-ECDE-47E0-82DA-D02EC1D4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EEE9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BEDA8-69DB-46F1-99E5-D336C8D9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57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4CF5"/>
                </a:solidFill>
              </a:defRPr>
            </a:pPr>
            <a:r>
              <a:rPr sz="1050" b="1">
                <a:solidFill>
                  <a:srgbClr val="6F4CF5"/>
                </a:solidFill>
              </a:rPr>
              <a:t>7일 동안 숨기기 가능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98892F-66E1-490E-ADFA-54E10CED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94A3"/>
                </a:solidFill>
              </a:defRPr>
            </a:pPr>
            <a:r>
              <a:rPr sz="825" b="0">
                <a:solidFill>
                  <a:srgbClr val="9A94A3"/>
                </a:solidFill>
              </a:rPr>
              <a:t>상담 MASTER 사용 가이드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6ED9F0-9B9D-41DC-9B47-BC52BD4D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94A3"/>
                </a:solidFill>
              </a:defRPr>
            </a:pPr>
            <a:r>
              <a:rPr sz="825" b="1">
                <a:solidFill>
                  <a:srgbClr val="9A94A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36905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AC49E8-45ED-4B18-BE96-2865CAF5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4CF5"/>
                </a:solidFill>
              </a:defRPr>
            </a:pPr>
            <a:r>
              <a:rPr sz="1050" b="1">
                <a:solidFill>
                  <a:srgbClr val="6F4CF5"/>
                </a:solidFill>
              </a:rPr>
              <a:t>03 · 상담 퀴즈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1CD4B-DCBE-4D77-8428-8C3E4B47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51F"/>
                </a:solidFill>
              </a:defRPr>
            </a:pPr>
            <a:r>
              <a:rPr sz="2700" b="1">
                <a:solidFill>
                  <a:srgbClr val="17151F"/>
                </a:solidFill>
              </a:rPr>
              <a:t>짧게 풀고, 바로 복습하고, 포인트까지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CAC3E-DDF1-4BA0-A277-3E3D8D9C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79"/>
                </a:solidFill>
              </a:defRPr>
            </a:pPr>
            <a:r>
              <a:rPr sz="1350" b="0">
                <a:solidFill>
                  <a:srgbClr val="6F6A79"/>
                </a:solidFill>
              </a:rPr>
              <a:t>텍스트 정답을 입력하고 제출하면 결과와 설명을 확인할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7DAE6-3E2D-49EC-A7C5-59242C9C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191000" cy="3667125"/>
          </a:xfrm>
          <a:prstGeom xmlns:a="http://schemas.openxmlformats.org/drawingml/2006/main" prst="roundRect">
            <a:avLst>
              <a:gd name="adj" fmla="val 4156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EEE9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38DD5-5A98-45BB-B72C-B1AFC37C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F7486-D132-4848-91E4-4EE157A9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4CF5"/>
                </a:solidFill>
              </a:defRPr>
            </a:pPr>
            <a:r>
              <a:rPr sz="1050" b="1">
                <a:solidFill>
                  <a:srgbClr val="6F4CF5"/>
                </a:solidFill>
              </a:rPr>
              <a:t>사용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56DB6-8043-4613-ABFE-1F6D2B09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F"/>
                </a:solidFill>
              </a:defRPr>
            </a:pPr>
            <a:r>
              <a:rPr sz="1800" b="1">
                <a:solidFill>
                  <a:srgbClr val="17151F"/>
                </a:solidFill>
              </a:rPr>
              <a:t>문제 읽기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77B75-83BD-49C3-914D-BD05C01B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4CF5"/>
                </a:solidFill>
              </a:defRPr>
            </a:pPr>
            <a:r>
              <a:rPr sz="1500" b="1">
                <a:solidFill>
                  <a:srgbClr val="6F4CF5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BFB8E-FC06-4CD5-9932-6CF130A9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F"/>
                </a:solidFill>
              </a:defRPr>
            </a:pPr>
            <a:r>
              <a:rPr sz="1800" b="1">
                <a:solidFill>
                  <a:srgbClr val="17151F"/>
                </a:solidFill>
              </a:rPr>
              <a:t>정답 입력 · 제출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B363F-6D5F-48B1-B0B1-AB96B081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4CF5"/>
                </a:solidFill>
              </a:defRPr>
            </a:pPr>
            <a:r>
              <a:rPr sz="1500" b="1">
                <a:solidFill>
                  <a:srgbClr val="6F4CF5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66052-784D-4DE5-A480-AD25D987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F"/>
                </a:solidFill>
              </a:defRPr>
            </a:pPr>
            <a:r>
              <a:rPr sz="1800" b="1">
                <a:solidFill>
                  <a:srgbClr val="17151F"/>
                </a:solidFill>
              </a:rPr>
              <a:t>정답/오답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FAA86-6CE6-4CFE-86F9-5A03C936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4CF5"/>
                </a:solidFill>
              </a:defRPr>
            </a:pPr>
            <a:r>
              <a:rPr sz="1500" b="1">
                <a:solidFill>
                  <a:srgbClr val="6F4CF5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3C335-656D-44C0-B2AB-1A1DB8BC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F"/>
                </a:solidFill>
              </a:defRPr>
            </a:pPr>
            <a:r>
              <a:rPr sz="1800" b="1">
                <a:solidFill>
                  <a:srgbClr val="17151F"/>
                </a:solidFill>
              </a:rPr>
              <a:t>다음 문제 또는 결과 보기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4A432-36C6-4AE5-84A7-51C916D1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95500"/>
            <a:ext cx="6286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A9146-A55E-4708-BC08-A7E68417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050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FFF0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DE33C-DC13-49EB-9619-4DCD8CB2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05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4CF5"/>
                </a:solidFill>
              </a:defRPr>
            </a:pPr>
            <a:r>
              <a:rPr sz="1350" b="1">
                <a:solidFill>
                  <a:srgbClr val="6F4CF5"/>
                </a:solidFill>
              </a:rPr>
              <a:t>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0B7C6-F774-4319-A096-9C1F272C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860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F"/>
                </a:solidFill>
              </a:defRPr>
            </a:pPr>
            <a:r>
              <a:rPr sz="1575" b="1">
                <a:solidFill>
                  <a:srgbClr val="17151F"/>
                </a:solidFill>
              </a:rPr>
              <a:t>포인트 적립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55543-25CE-43D0-B9F1-2A67C761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67000"/>
            <a:ext cx="520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79"/>
                </a:solidFill>
              </a:defRPr>
            </a:pPr>
            <a:r>
              <a:rPr sz="1200" b="0">
                <a:solidFill>
                  <a:srgbClr val="6F6A79"/>
                </a:solidFill>
              </a:rPr>
              <a:t>1회차 20점 · 2~3회차 10점 · 4회차 이상 5점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1CF40-E4E2-4FF1-9D18-BCB49C70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6286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CE752-204A-46E7-B635-877E7FB7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861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9525">
            <a:solidFill>
              <a:srgbClr val="DDF7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DD6A35-8F0D-42C6-B20A-DBECFD78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86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4CF5"/>
                </a:solidFill>
              </a:defRPr>
            </a:pPr>
            <a:r>
              <a:rPr sz="1350" b="1">
                <a:solidFill>
                  <a:srgbClr val="6F4CF5"/>
                </a:solidFill>
              </a:rPr>
              <a:t>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7787F-89B0-49B7-9295-9982BA81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671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F"/>
                </a:solidFill>
              </a:defRPr>
            </a:pPr>
            <a:r>
              <a:rPr sz="1575" b="1">
                <a:solidFill>
                  <a:srgbClr val="17151F"/>
                </a:solidFill>
              </a:rPr>
              <a:t>오답 복습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EEAF6-A938-44AD-A61E-A215E26A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48100"/>
            <a:ext cx="520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79"/>
                </a:solidFill>
              </a:defRPr>
            </a:pPr>
            <a:r>
              <a:rPr sz="1200" b="0">
                <a:solidFill>
                  <a:srgbClr val="6F6A79"/>
                </a:solidFill>
              </a:rPr>
              <a:t>틀린 문제는 오답노트와 결과 화면에서 다시 확인합니다.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3721FD-A040-4E89-A6BF-90D1E9A9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57700"/>
            <a:ext cx="6286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E918DE-7A6C-43F4-BCBE-350FDB76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672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5F3F8"/>
          </a:solidFill>
          <a:ln xmlns:a="http://schemas.openxmlformats.org/drawingml/2006/main" w="9525">
            <a:solidFill>
              <a:srgbClr val="F5F3F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03404-2AA4-4911-9DA2-04A2A5B9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67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4CF5"/>
                </a:solidFill>
              </a:defRPr>
            </a:pPr>
            <a:r>
              <a:rPr sz="1350" b="1">
                <a:solidFill>
                  <a:srgbClr val="6F4CF5"/>
                </a:solidFill>
              </a:rPr>
              <a:t>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DB7EE8-2DD8-46E6-8447-40F16EC4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482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F"/>
                </a:solidFill>
              </a:defRPr>
            </a:pPr>
            <a:r>
              <a:rPr sz="1575" b="1">
                <a:solidFill>
                  <a:srgbClr val="17151F"/>
                </a:solidFill>
              </a:rPr>
              <a:t>꾸준함 관리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A28C3C-E421-472C-8046-644D00E7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29200"/>
            <a:ext cx="520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79"/>
                </a:solidFill>
              </a:defRPr>
            </a:pPr>
            <a:r>
              <a:rPr sz="1200" b="0">
                <a:solidFill>
                  <a:srgbClr val="6F6A79"/>
                </a:solidFill>
              </a:rPr>
              <a:t>연속 정답 스트릭과 오늘의 제한 문항 수를 확인합니다.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7ED6E0-5473-4C91-A320-A9619768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94A3"/>
                </a:solidFill>
              </a:defRPr>
            </a:pPr>
            <a:r>
              <a:rPr sz="825" b="0">
                <a:solidFill>
                  <a:srgbClr val="9A94A3"/>
                </a:solidFill>
              </a:rPr>
              <a:t>상담 MASTER 사용 가이드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E075AC-83DF-4DBB-A42E-2CA232B2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94A3"/>
                </a:solidFill>
              </a:defRPr>
            </a:pPr>
            <a:r>
              <a:rPr sz="825" b="1">
                <a:solidFill>
                  <a:srgbClr val="9A94A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4213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CB60AD-1875-47AF-96AE-E1F4738D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4CF5"/>
                </a:solidFill>
              </a:defRPr>
            </a:pPr>
            <a:r>
              <a:rPr sz="1050" b="1">
                <a:solidFill>
                  <a:srgbClr val="6F4CF5"/>
                </a:solidFill>
              </a:rPr>
              <a:t>04 · 상담 핵심카드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5D034-D1E2-466A-8D30-B7D728E8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51F"/>
                </a:solidFill>
              </a:defRPr>
            </a:pPr>
            <a:r>
              <a:rPr sz="2700" b="1">
                <a:solidFill>
                  <a:srgbClr val="17151F"/>
                </a:solidFill>
              </a:rPr>
              <a:t>상담 직전, 필요한 멘트를 빠르게 찾기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D27E8-7F30-4A6E-BAB0-2EB272EF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79"/>
                </a:solidFill>
              </a:defRPr>
            </a:pPr>
            <a:r>
              <a:rPr sz="1350" b="0">
                <a:solidFill>
                  <a:srgbClr val="6F6A79"/>
                </a:solidFill>
              </a:rPr>
              <a:t>학년과 과목을 고르면 상담 흐름에 맞춘 4단계 내용을 확인할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E5574-AE76-4304-B88B-5B6C5BA6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4574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F847F-01F7-4036-A133-F08592B9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4CF5"/>
          </a:solidFill>
          <a:ln xmlns:a="http://schemas.openxmlformats.org/drawingml/2006/main" w="9525">
            <a:solidFill>
              <a:srgbClr val="6F4C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010A7-14B7-4BC1-AC6F-CA2EE2DC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6F62F-E9D2-45A9-8D8E-3A32C55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F"/>
                </a:solidFill>
              </a:defRPr>
            </a:pPr>
            <a:r>
              <a:rPr sz="1575" b="1">
                <a:solidFill>
                  <a:srgbClr val="17151F"/>
                </a:solidFill>
              </a:rPr>
              <a:t>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BC75F-0772-45BF-A3E2-60B368EB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79"/>
                </a:solidFill>
              </a:defRPr>
            </a:pPr>
            <a:r>
              <a:rPr sz="1200" b="0">
                <a:solidFill>
                  <a:srgbClr val="6F6A79"/>
                </a:solidFill>
              </a:rPr>
              <a:t>상황과 니즈를 파악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86909-28EC-4447-A838-860DD552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71825"/>
            <a:ext cx="209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E0EA"/>
          </a:solidFill>
          <a:ln xmlns:a="http://schemas.openxmlformats.org/drawingml/2006/main" w="0">
            <a:solidFill>
              <a:srgbClr val="E5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4AB4E-8400-40D9-8F60-52B046DC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00300"/>
            <a:ext cx="24574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234C3-33EC-49EF-A6A2-AE31D014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717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4CF5"/>
          </a:solidFill>
          <a:ln xmlns:a="http://schemas.openxmlformats.org/drawingml/2006/main" w="9525">
            <a:solidFill>
              <a:srgbClr val="6F4C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FDC10-71EF-4022-BFC1-D75E276B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71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85A78-EF84-4280-A131-616BCF0F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813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F"/>
                </a:solidFill>
              </a:defRPr>
            </a:pPr>
            <a:r>
              <a:rPr sz="1575" b="1">
                <a:solidFill>
                  <a:srgbClr val="17151F"/>
                </a:solidFill>
              </a:rPr>
              <a:t>공감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8D5AB-74E0-4B86-A0D6-C36D48E6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6004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79"/>
                </a:solidFill>
              </a:defRPr>
            </a:pPr>
            <a:r>
              <a:rPr sz="1200" b="0">
                <a:solidFill>
                  <a:srgbClr val="6F6A79"/>
                </a:solidFill>
              </a:rPr>
              <a:t>고객의 고민을 인정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E4990-7276-4D52-9279-546A2985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71825"/>
            <a:ext cx="209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E0EA"/>
          </a:solidFill>
          <a:ln xmlns:a="http://schemas.openxmlformats.org/drawingml/2006/main" w="0">
            <a:solidFill>
              <a:srgbClr val="E5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5808A-5643-4DD7-8486-0A0EEA16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00300"/>
            <a:ext cx="24574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74C74-CD55-4E67-AB34-ADB627B0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B4A"/>
          </a:solidFill>
          <a:ln xmlns:a="http://schemas.openxmlformats.org/drawingml/2006/main" w="9525">
            <a:solidFill>
              <a:srgbClr val="FF9B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AC276-045E-4849-93CF-77C65109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1F50C-8999-4E93-BCA9-1F9353F2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813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F"/>
                </a:solidFill>
              </a:defRPr>
            </a:pPr>
            <a:r>
              <a:rPr sz="1575" b="1">
                <a:solidFill>
                  <a:srgbClr val="17151F"/>
                </a:solidFill>
              </a:rPr>
              <a:t>추천 콘텐츠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05DDA4-E493-4B1E-904D-C5F2A3C8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79"/>
                </a:solidFill>
              </a:defRPr>
            </a:pPr>
            <a:r>
              <a:rPr sz="1200" b="0">
                <a:solidFill>
                  <a:srgbClr val="6F6A79"/>
                </a:solidFill>
              </a:rPr>
              <a:t>맞춤 학습 내용을 제안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387BB-7DD4-49D2-B170-7EACE67F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71825"/>
            <a:ext cx="209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E0EA"/>
          </a:solidFill>
          <a:ln xmlns:a="http://schemas.openxmlformats.org/drawingml/2006/main" w="0">
            <a:solidFill>
              <a:srgbClr val="E5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34D3C0-5BF4-4DD9-87A9-AF2C5DA2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400300"/>
            <a:ext cx="24574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F9D24-BF43-4D31-89AC-A75C3D6B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717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4CF5"/>
          </a:solidFill>
          <a:ln xmlns:a="http://schemas.openxmlformats.org/drawingml/2006/main" w="9525">
            <a:solidFill>
              <a:srgbClr val="6F4C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BB0011-0CDE-489D-ACFD-D8BB8E97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71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E1B4F-DE59-4014-BFFF-6A0C4581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813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F"/>
                </a:solidFill>
              </a:defRPr>
            </a:pPr>
            <a:r>
              <a:rPr sz="1575" b="1">
                <a:solidFill>
                  <a:srgbClr val="17151F"/>
                </a:solidFill>
              </a:rPr>
              <a:t>추천 멘트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06D2E-D59E-4A3A-9A82-FC4683BA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004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79"/>
                </a:solidFill>
              </a:defRPr>
            </a:pPr>
            <a:r>
              <a:rPr sz="1200" b="0">
                <a:solidFill>
                  <a:srgbClr val="6F6A79"/>
                </a:solidFill>
              </a:rPr>
              <a:t>현장에서 바로 활용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27A4F1-4FDE-485B-9A96-8CAD774C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FFF0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849BA2-52CA-42AE-A389-B20E71E3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434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F"/>
                </a:solidFill>
              </a:defRPr>
            </a:pPr>
            <a:r>
              <a:rPr sz="1500" b="1">
                <a:solidFill>
                  <a:srgbClr val="17151F"/>
                </a:solidFill>
              </a:rPr>
              <a:t>거절극복도 같은 방식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52A3AA-19FD-4791-8277-B976BA97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8632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79"/>
                </a:solidFill>
              </a:defRPr>
            </a:pPr>
            <a:r>
              <a:rPr sz="1350" b="0">
                <a:solidFill>
                  <a:srgbClr val="6F6A79"/>
                </a:solidFill>
              </a:rPr>
              <a:t>거절 유형을 고른 뒤 추천 콘텐츠와 응대 멘트를 확인하고, 필요한 문장은 복사해 활용하세요.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12565B-C656-4C9B-A2C8-E1A97D60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94A3"/>
                </a:solidFill>
              </a:defRPr>
            </a:pPr>
            <a:r>
              <a:rPr sz="825" b="0">
                <a:solidFill>
                  <a:srgbClr val="9A94A3"/>
                </a:solidFill>
              </a:rPr>
              <a:t>상담 MASTER 사용 가이드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F2C54D-9BC6-4235-8372-870A89F7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94A3"/>
                </a:solidFill>
              </a:defRPr>
            </a:pPr>
            <a:r>
              <a:rPr sz="825" b="1">
                <a:solidFill>
                  <a:srgbClr val="9A94A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7716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420EAD-4827-413F-A0BB-61BB7258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4CF5"/>
                </a:solidFill>
              </a:defRPr>
            </a:pPr>
            <a:r>
              <a:rPr sz="1050" b="1">
                <a:solidFill>
                  <a:srgbClr val="6F4CF5"/>
                </a:solidFill>
              </a:rPr>
              <a:t>05 · 교육 자료와 롤플레잉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1EDCF-90C6-4951-B5F9-CF723822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51F"/>
                </a:solidFill>
              </a:defRPr>
            </a:pPr>
            <a:r>
              <a:rPr sz="2700" b="1">
                <a:solidFill>
                  <a:srgbClr val="17151F"/>
                </a:solidFill>
              </a:rPr>
              <a:t>보고 익히고, 직접 말해보는 연습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97036-F0F5-4F68-8298-6C731DBC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79"/>
                </a:solidFill>
              </a:defRPr>
            </a:pPr>
            <a:r>
              <a:rPr sz="1350" b="0">
                <a:solidFill>
                  <a:srgbClr val="6F6A79"/>
                </a:solidFill>
              </a:rPr>
              <a:t>자료 탐색과 말하기 연습을 이어서 활용하면 효과적입니다.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AF338-618D-4623-9545-13ED12C4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5191125" cy="3476625"/>
          </a:xfrm>
          <a:prstGeom xmlns:a="http://schemas.openxmlformats.org/drawingml/2006/main" prst="roundRect">
            <a:avLst>
              <a:gd name="adj" fmla="val 4384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EEE9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38AB6-1D9C-4105-898A-87FEA664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79876-75B0-4F19-A596-87C6F8ED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4CF5"/>
                </a:solidFill>
              </a:defRPr>
            </a:pPr>
            <a:r>
              <a:rPr sz="1050" b="1">
                <a:solidFill>
                  <a:srgbClr val="6F4CF5"/>
                </a:solidFill>
              </a:rPr>
              <a:t>교육 자료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FC010-99E8-4208-97B1-3612217E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51F"/>
                </a:solidFill>
              </a:defRPr>
            </a:pPr>
            <a:r>
              <a:rPr sz="1875" b="1">
                <a:solidFill>
                  <a:srgbClr val="17151F"/>
                </a:solidFill>
              </a:rPr>
              <a:t>상담력 인사이트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99E84-1A2F-486C-A6C2-4894DC59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79"/>
                </a:solidFill>
              </a:defRPr>
            </a:pPr>
            <a:r>
              <a:rPr sz="1275" b="0">
                <a:solidFill>
                  <a:srgbClr val="6F6A79"/>
                </a:solidFill>
              </a:rPr>
              <a:t>월별 PDF 자료를 읽고 연결 영상을 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BDDC4-6C50-4496-94D9-866F9CBB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51F"/>
                </a:solidFill>
              </a:defRPr>
            </a:pPr>
            <a:r>
              <a:rPr sz="1875" b="1">
                <a:solidFill>
                  <a:srgbClr val="17151F"/>
                </a:solidFill>
              </a:rPr>
              <a:t>우수사례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C16BA-1BF4-4D71-A68F-3D5C90B6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79"/>
                </a:solidFill>
              </a:defRPr>
            </a:pPr>
            <a:r>
              <a:rPr sz="1275" b="0">
                <a:solidFill>
                  <a:srgbClr val="6F6A79"/>
                </a:solidFill>
              </a:rPr>
              <a:t>현장 우수사례 영상을 제목별로 선택해 재생합니다.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A0F24-BB79-4628-89A8-08C31AAC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577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4CF5"/>
                </a:solidFill>
              </a:defRPr>
            </a:pPr>
            <a:r>
              <a:rPr sz="1125" b="1">
                <a:solidFill>
                  <a:srgbClr val="6F4CF5"/>
                </a:solidFill>
              </a:rPr>
              <a:t>PC는 새 탭 · 모바일은 앱 내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99338-8F9C-44F4-8182-D1A18EBC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14550"/>
            <a:ext cx="5286375" cy="3476625"/>
          </a:xfrm>
          <a:prstGeom xmlns:a="http://schemas.openxmlformats.org/drawingml/2006/main" prst="roundRect">
            <a:avLst>
              <a:gd name="adj" fmla="val 4384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FFF0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F9592-A2F4-492F-9D78-C18D20CC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4315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2F957-0E52-4A78-A0A5-DD9D3816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431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86C18"/>
                </a:solidFill>
              </a:defRPr>
            </a:pPr>
            <a:r>
              <a:rPr sz="1050" b="1">
                <a:solidFill>
                  <a:srgbClr val="D86C18"/>
                </a:solidFill>
              </a:rPr>
              <a:t>롤플레잉 룰렛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77249-E061-4FD8-895B-76D783AE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718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51F"/>
                </a:solidFill>
              </a:defRPr>
            </a:pPr>
            <a:r>
              <a:rPr sz="1875" b="1">
                <a:solidFill>
                  <a:srgbClr val="17151F"/>
                </a:solidFill>
              </a:rPr>
              <a:t>START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E2019-8D3A-4A8B-A87B-9400B79D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79"/>
                </a:solidFill>
              </a:defRPr>
            </a:pPr>
            <a:r>
              <a:rPr sz="1275" b="0">
                <a:solidFill>
                  <a:srgbClr val="6F6A79"/>
                </a:solidFill>
              </a:rPr>
              <a:t>주제 항목이 움직이기 시작합니다.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3C1EC-BE30-45E7-A76F-E2C2A947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6195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51F"/>
                </a:solidFill>
              </a:defRPr>
            </a:pPr>
            <a:r>
              <a:rPr sz="1875" b="1">
                <a:solidFill>
                  <a:srgbClr val="17151F"/>
                </a:solidFill>
              </a:rPr>
              <a:t>STOP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33565-3CD0-4285-B4BA-4CAC4630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79"/>
                </a:solidFill>
              </a:defRPr>
            </a:pPr>
            <a:r>
              <a:rPr sz="1275" b="0">
                <a:solidFill>
                  <a:srgbClr val="6F6A79"/>
                </a:solidFill>
              </a:rPr>
              <a:t>선택된 주제로 역할 연습을 진행합니다.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212BC-4726-4694-996E-C3466446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00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51F"/>
                </a:solidFill>
              </a:defRPr>
            </a:pPr>
            <a:r>
              <a:rPr sz="1875" b="1">
                <a:solidFill>
                  <a:srgbClr val="17151F"/>
                </a:solidFill>
              </a:rPr>
              <a:t>도움영상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27850-1826-4970-8577-CE6FFD11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79"/>
                </a:solidFill>
              </a:defRPr>
            </a:pPr>
            <a:r>
              <a:rPr sz="1275" b="0">
                <a:solidFill>
                  <a:srgbClr val="6F6A79"/>
                </a:solidFill>
              </a:rPr>
              <a:t>팀별 RP 진행법이 궁금할 때 확인합니다.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2AE266-0978-4F54-AED9-46B13E2A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94A3"/>
                </a:solidFill>
              </a:defRPr>
            </a:pPr>
            <a:r>
              <a:rPr sz="825" b="0">
                <a:solidFill>
                  <a:srgbClr val="9A94A3"/>
                </a:solidFill>
              </a:rPr>
              <a:t>상담 MASTER 사용 가이드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0505A-E9DF-44A2-80B4-AE16D47C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94A3"/>
                </a:solidFill>
              </a:defRPr>
            </a:pPr>
            <a:r>
              <a:rPr sz="825" b="1">
                <a:solidFill>
                  <a:srgbClr val="9A94A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2337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DDE1AD-5651-4807-9B5A-0B382496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4CF5"/>
                </a:solidFill>
              </a:defRPr>
            </a:pPr>
            <a:r>
              <a:rPr sz="1050" b="1">
                <a:solidFill>
                  <a:srgbClr val="6F4CF5"/>
                </a:solidFill>
              </a:rPr>
              <a:t>06 · 기록과 성장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FFB89-5A6C-455D-BAE9-8DE0C86E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51F"/>
                </a:solidFill>
              </a:defRPr>
            </a:pPr>
            <a:r>
              <a:rPr sz="2700" b="1">
                <a:solidFill>
                  <a:srgbClr val="17151F"/>
                </a:solidFill>
              </a:rPr>
              <a:t>내가 어디까지 왔는지 확인하기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B9977-1617-447F-9B91-6917733F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79"/>
                </a:solidFill>
              </a:defRPr>
            </a:pPr>
            <a:r>
              <a:rPr sz="1350" b="0">
                <a:solidFill>
                  <a:srgbClr val="6F6A79"/>
                </a:solidFill>
              </a:rPr>
              <a:t>점수뿐 아니라 학습 기록과 다음 목표를 함께 확인하세요.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EA7C7-D79E-4A52-A407-C446FF3F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4290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C6539-FD03-4B6E-AD2B-7E5DF5C3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EEE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EAC04-D8E8-446D-9EEC-49CC240A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4CF5"/>
                </a:solidFill>
              </a:defRPr>
            </a:pPr>
            <a:r>
              <a:rPr sz="1350" b="1">
                <a:solidFill>
                  <a:srgbClr val="6F4CF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9F1F6-4C5C-4341-889E-BD3F21CD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33625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F"/>
                </a:solidFill>
              </a:defRPr>
            </a:pPr>
            <a:r>
              <a:rPr sz="1575" b="1">
                <a:solidFill>
                  <a:srgbClr val="17151F"/>
                </a:solidFill>
              </a:rPr>
              <a:t>랭킹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41FE8-2F54-4221-9798-F242EBA6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14625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79"/>
                </a:solidFill>
              </a:defRPr>
            </a:pPr>
            <a:r>
              <a:rPr sz="1200" b="0">
                <a:solidFill>
                  <a:srgbClr val="6F6A79"/>
                </a:solidFill>
              </a:rPr>
              <a:t>이달의 TOP 5와 나의 현재 순위를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C8864-E513-483B-9597-AD276DCA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34290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24B37-CC67-4EB8-B292-343CF4A7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52675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FFF0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9D2E5-3863-4D9E-A412-916F61E1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526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4CF5"/>
                </a:solidFill>
              </a:defRPr>
            </a:pPr>
            <a:r>
              <a:rPr sz="1350" b="1">
                <a:solidFill>
                  <a:srgbClr val="6F4CF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63F93-72CA-4E45-A8F6-A05F114E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F"/>
                </a:solidFill>
              </a:defRPr>
            </a:pPr>
            <a:r>
              <a:rPr sz="1575" b="1">
                <a:solidFill>
                  <a:srgbClr val="17151F"/>
                </a:solidFill>
              </a:rPr>
              <a:t>성장여정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85D5E-F168-4BAB-B95A-893DABC8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14625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79"/>
                </a:solidFill>
              </a:defRPr>
            </a:pPr>
            <a:r>
              <a:rPr sz="1200" b="0">
                <a:solidFill>
                  <a:srgbClr val="6F6A79"/>
                </a:solidFill>
              </a:rPr>
              <a:t>누적 포인트에 따른 현재 직급과 다음 단계를 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8F88C-7C96-474E-BE2D-550CA96E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4290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0EE4B-B23B-4112-8909-579974A2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52675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9525">
            <a:solidFill>
              <a:srgbClr val="DDF7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CA7E0-BA7A-4010-A12C-4107D817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526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4CF5"/>
                </a:solidFill>
              </a:defRPr>
            </a:pPr>
            <a:r>
              <a:rPr sz="1350" b="1">
                <a:solidFill>
                  <a:srgbClr val="6F4CF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281E0-A6AE-4C6A-A3CD-EDF64ECE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33625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F"/>
                </a:solidFill>
              </a:defRPr>
            </a:pPr>
            <a:r>
              <a:rPr sz="1575" b="1">
                <a:solidFill>
                  <a:srgbClr val="17151F"/>
                </a:solidFill>
              </a:rPr>
              <a:t>오답노트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EBAD8-355D-405E-A3FD-509EF75C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14625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79"/>
                </a:solidFill>
              </a:defRPr>
            </a:pPr>
            <a:r>
              <a:rPr sz="1200" b="0">
                <a:solidFill>
                  <a:srgbClr val="6F6A79"/>
                </a:solidFill>
              </a:rPr>
              <a:t>저장된 오답을 다시 풀며 부족한 영역을 보완합니다.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04c25a40247f0"/>
          <a:stretch xmlns:a="http://schemas.openxmlformats.org/drawingml/2006/main"/>
        </p:blipFill>
        <p:spPr>
          <a:xfrm xmlns:a="http://schemas.openxmlformats.org/drawingml/2006/main">
            <a:off x="857250" y="3857625"/>
            <a:ext cx="1428750" cy="142875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1503032224554"/>
          <a:stretch xmlns:a="http://schemas.openxmlformats.org/drawingml/2006/main"/>
        </p:blipFill>
        <p:spPr>
          <a:xfrm xmlns:a="http://schemas.openxmlformats.org/drawingml/2006/main">
            <a:off x="3028950" y="3857625"/>
            <a:ext cx="1428750" cy="142875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da8dc2b8d44a3"/>
          <a:stretch xmlns:a="http://schemas.openxmlformats.org/drawingml/2006/main"/>
        </p:blipFill>
        <p:spPr>
          <a:xfrm xmlns:a="http://schemas.openxmlformats.org/drawingml/2006/main">
            <a:off x="5200650" y="3857625"/>
            <a:ext cx="1428750" cy="142875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3f1bac2064ba2"/>
          <a:stretch xmlns:a="http://schemas.openxmlformats.org/drawingml/2006/main"/>
        </p:blipFill>
        <p:spPr>
          <a:xfrm xmlns:a="http://schemas.openxmlformats.org/drawingml/2006/main">
            <a:off x="7372350" y="3857625"/>
            <a:ext cx="1428750" cy="142875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d6bbc61184bb9"/>
          <a:stretch xmlns:a="http://schemas.openxmlformats.org/drawingml/2006/main"/>
        </p:blipFill>
        <p:spPr>
          <a:xfrm xmlns:a="http://schemas.openxmlformats.org/drawingml/2006/main">
            <a:off x="9544050" y="3857625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4746CE-C355-40A3-BF8E-971DF289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F6A79"/>
                </a:solidFill>
              </a:defRPr>
            </a:pPr>
            <a:r>
              <a:rPr sz="1125" b="1">
                <a:solidFill>
                  <a:srgbClr val="6F6A79"/>
                </a:solidFill>
              </a:rPr>
              <a:t>신입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56A540-DC08-4962-B771-2FA7D814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3816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F6A79"/>
                </a:solidFill>
              </a:defRPr>
            </a:pPr>
            <a:r>
              <a:rPr sz="1125" b="1">
                <a:solidFill>
                  <a:srgbClr val="6F6A79"/>
                </a:solidFill>
              </a:rPr>
              <a:t>열공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8DD7F3-4359-4B67-8F43-B92E7D03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3816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F6A79"/>
                </a:solidFill>
              </a:defRPr>
            </a:pPr>
            <a:r>
              <a:rPr sz="1125" b="1">
                <a:solidFill>
                  <a:srgbClr val="6F6A79"/>
                </a:solidFill>
              </a:rPr>
              <a:t>여유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E259EB-C1AC-49FA-8341-5126667F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3816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F6A79"/>
                </a:solidFill>
              </a:defRPr>
            </a:pPr>
            <a:r>
              <a:rPr sz="1125" b="1">
                <a:solidFill>
                  <a:srgbClr val="6F6A79"/>
                </a:solidFill>
              </a:rPr>
              <a:t>베테랑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0B69FB-3671-4418-9087-63515F96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3816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F4CF5"/>
                </a:solidFill>
              </a:defRPr>
            </a:pPr>
            <a:r>
              <a:rPr sz="1125" b="1">
                <a:solidFill>
                  <a:srgbClr val="6F4CF5"/>
                </a:solidFill>
              </a:rPr>
              <a:t>상담왕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D56F1F-AB8D-4DB7-9B66-00F4E5F6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94A3"/>
                </a:solidFill>
              </a:defRPr>
            </a:pPr>
            <a:r>
              <a:rPr sz="825" b="0">
                <a:solidFill>
                  <a:srgbClr val="9A94A3"/>
                </a:solidFill>
              </a:rPr>
              <a:t>상담 MASTER 사용 가이드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2BE9FF-C9DA-4FB4-A38B-0BF6DD6F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94A3"/>
                </a:solidFill>
              </a:defRPr>
            </a:pPr>
            <a:r>
              <a:rPr sz="825" b="1">
                <a:solidFill>
                  <a:srgbClr val="9A94A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39940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F5C076-C78E-4E89-89E9-568FC5E6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4CF5"/>
                </a:solidFill>
              </a:defRPr>
            </a:pPr>
            <a:r>
              <a:rPr sz="1050" b="1">
                <a:solidFill>
                  <a:srgbClr val="6F4CF5"/>
                </a:solidFill>
              </a:rPr>
              <a:t>07 · 도움말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F2887-4FBF-4B15-A180-77F2C452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51F"/>
                </a:solidFill>
              </a:defRPr>
            </a:pPr>
            <a:r>
              <a:rPr sz="2700" b="1">
                <a:solidFill>
                  <a:srgbClr val="17151F"/>
                </a:solidFill>
              </a:rPr>
              <a:t>모르면 오른쪽 상단 ‘도움말’부터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B2D19-E038-40C4-BA2F-BA9177C2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79"/>
                </a:solidFill>
              </a:defRPr>
            </a:pPr>
            <a:r>
              <a:rPr sz="1350" b="0">
                <a:solidFill>
                  <a:srgbClr val="6F6A79"/>
                </a:solidFill>
              </a:rPr>
              <a:t>처음 안내를 닫아도 도움말은 언제든 다시 열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56D47-58DE-4CA5-9AD6-4CC7207D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57200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EEE9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D3324-967E-44A2-BF3B-DAE28F89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F60C0-EDBD-46C8-B578-6AAC3E1A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4CF5"/>
                </a:solidFill>
              </a:defRPr>
            </a:pPr>
            <a:r>
              <a:rPr sz="1050" b="1">
                <a:solidFill>
                  <a:srgbClr val="6F4CF5"/>
                </a:solidFill>
              </a:rPr>
              <a:t>새 사용 가이드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8EDBC-8A5D-40ED-82B5-97348DAD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4CF5"/>
                </a:solidFill>
              </a:defRPr>
            </a:pPr>
            <a:r>
              <a:rPr sz="1650" b="1">
                <a:solidFill>
                  <a:srgbClr val="6F4CF5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124BF-8A69-4696-8A09-2E019751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F"/>
                </a:solidFill>
              </a:defRPr>
            </a:pPr>
            <a:r>
              <a:rPr sz="1500" b="1">
                <a:solidFill>
                  <a:srgbClr val="17151F"/>
                </a:solidFill>
              </a:rPr>
              <a:t>기능 목록에서 궁금한 항목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A2941-7E93-46BD-B6E7-9068E8FE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4CF5"/>
                </a:solidFill>
              </a:defRPr>
            </a:pPr>
            <a:r>
              <a:rPr sz="1650" b="1">
                <a:solidFill>
                  <a:srgbClr val="6F4CF5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536D8-D8D1-4E7E-89AC-CF7F85C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385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F"/>
                </a:solidFill>
              </a:defRPr>
            </a:pPr>
            <a:r>
              <a:rPr sz="1500" b="1">
                <a:solidFill>
                  <a:srgbClr val="17151F"/>
                </a:solidFill>
              </a:rPr>
              <a:t>설명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B1398-C324-4E06-AA4D-8972D28E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4CF5"/>
                </a:solidFill>
              </a:defRPr>
            </a:pPr>
            <a:r>
              <a:rPr sz="1650" b="1">
                <a:solidFill>
                  <a:srgbClr val="6F4CF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A91B0-A998-41B8-B8EE-CAE26E51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F"/>
                </a:solidFill>
              </a:defRPr>
            </a:pPr>
            <a:r>
              <a:rPr sz="1500" b="1">
                <a:solidFill>
                  <a:srgbClr val="17151F"/>
                </a:solidFill>
              </a:rPr>
              <a:t>‘바로 시작’으로 해당 기능 이동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83FEE-4908-4E2F-84D0-28A40F7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3E83B-95A3-4329-ADDE-BB4D3F6D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4CF5"/>
                </a:solidFill>
              </a:defRPr>
            </a:pPr>
            <a:r>
              <a:rPr sz="1050" b="1">
                <a:solidFill>
                  <a:srgbClr val="6F4CF5"/>
                </a:solidFill>
              </a:rPr>
              <a:t>7일 동안 보지 않기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3C127-BB30-4BCD-92B1-3C20CAEA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F"/>
                </a:solidFill>
              </a:defRPr>
            </a:pPr>
            <a:r>
              <a:rPr sz="2025" b="1">
                <a:solidFill>
                  <a:srgbClr val="17151F"/>
                </a:solidFill>
              </a:rPr>
              <a:t>추천 사용 루틴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8B82A-F2DA-4F48-A288-45044FDD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5715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12510-917A-435B-A4C7-21137307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813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4CF5"/>
                </a:solidFill>
              </a:defRPr>
            </a:pPr>
            <a:r>
              <a:rPr sz="1200" b="1">
                <a:solidFill>
                  <a:srgbClr val="6F4CF5"/>
                </a:solidFill>
              </a:rPr>
              <a:t>출근 후 5분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F77DB-DB93-44C7-B83E-03B49E15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51F"/>
                </a:solidFill>
              </a:defRPr>
            </a:pPr>
            <a:r>
              <a:rPr sz="1275" b="1">
                <a:solidFill>
                  <a:srgbClr val="17151F"/>
                </a:solidFill>
              </a:rPr>
              <a:t>상담 퀴즈 1~3문제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13FFC-7665-4E18-B4CD-DE96949E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09950"/>
            <a:ext cx="5715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5F3F8"/>
          </a:solidFill>
          <a:ln xmlns:a="http://schemas.openxmlformats.org/drawingml/2006/main" w="9525">
            <a:solidFill>
              <a:srgbClr val="F5F3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80402-EAA0-4924-8855-5AEFB860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099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4CF5"/>
                </a:solidFill>
              </a:defRPr>
            </a:pPr>
            <a:r>
              <a:rPr sz="1200" b="1">
                <a:solidFill>
                  <a:srgbClr val="6F4CF5"/>
                </a:solidFill>
              </a:rPr>
              <a:t>상담 직전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BE43A-89D0-4B39-A96C-C757D636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099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51F"/>
                </a:solidFill>
              </a:defRPr>
            </a:pPr>
            <a:r>
              <a:rPr sz="1275" b="1">
                <a:solidFill>
                  <a:srgbClr val="17151F"/>
                </a:solidFill>
              </a:rPr>
              <a:t>핵심카드 · 거절극복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C9A64-B859-49FA-ADDF-0BE293AB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38600"/>
            <a:ext cx="5715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0D043-B3A4-431D-A81F-4B2C8887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386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4CF5"/>
                </a:solidFill>
              </a:defRPr>
            </a:pPr>
            <a:r>
              <a:rPr sz="1200" b="1">
                <a:solidFill>
                  <a:srgbClr val="6F4CF5"/>
                </a:solidFill>
              </a:rPr>
              <a:t>팀 미팅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93670-2960-4228-930C-F4E0BAA7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51F"/>
                </a:solidFill>
              </a:defRPr>
            </a:pPr>
            <a:r>
              <a:rPr sz="1275" b="1">
                <a:solidFill>
                  <a:srgbClr val="17151F"/>
                </a:solidFill>
              </a:rPr>
              <a:t>인사이트 · 우수사례 · RP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253D92-DDD5-4DBB-A36E-9DA1761F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5715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5F3F8"/>
          </a:solidFill>
          <a:ln xmlns:a="http://schemas.openxmlformats.org/drawingml/2006/main" w="9525">
            <a:solidFill>
              <a:srgbClr val="F5F3F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8ADFD2-A2DE-43A0-877F-D0091CE7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672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4CF5"/>
                </a:solidFill>
              </a:defRPr>
            </a:pPr>
            <a:r>
              <a:rPr sz="1200" b="1">
                <a:solidFill>
                  <a:srgbClr val="6F4CF5"/>
                </a:solidFill>
              </a:rPr>
              <a:t>주 1회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9CBF61-F8BA-4943-AA1D-3D3E02A5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7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51F"/>
                </a:solidFill>
              </a:defRPr>
            </a:pPr>
            <a:r>
              <a:rPr sz="1275" b="1">
                <a:solidFill>
                  <a:srgbClr val="17151F"/>
                </a:solidFill>
              </a:rPr>
              <a:t>랭킹 · 성장 · 오답 점검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A3179E-595D-44F6-B956-E731D06D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864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9A70"/>
                </a:solidFill>
              </a:defRPr>
            </a:pPr>
            <a:r>
              <a:rPr sz="1350" b="1">
                <a:solidFill>
                  <a:srgbClr val="1E9A70"/>
                </a:solidFill>
              </a:rPr>
              <a:t>작게 자주 쓰는 것이 가장 좋은 사용법입니다.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D5E94B-4657-4DCE-86E8-72AE5136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94A3"/>
                </a:solidFill>
              </a:defRPr>
            </a:pPr>
            <a:r>
              <a:rPr sz="825" b="0">
                <a:solidFill>
                  <a:srgbClr val="9A94A3"/>
                </a:solidFill>
              </a:rPr>
              <a:t>상담 MASTER 사용 가이드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15C4C8-5E83-4152-BC21-FB3C3DD7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94A3"/>
                </a:solidFill>
              </a:defRPr>
            </a:pPr>
            <a:r>
              <a:rPr sz="825" b="1">
                <a:solidFill>
                  <a:srgbClr val="9A94A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5802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2026-08-28T04:21:02.8890000Z</dcterms:created>
  <dcterms:modified xsi:type="dcterms:W3CDTF">2026-08-28T04:21:02.8890000Z</dcterms:modified>
</coreProperties>
</file>